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79" r:id="rId14"/>
    <p:sldId id="280" r:id="rId15"/>
    <p:sldId id="267" r:id="rId16"/>
    <p:sldId id="278" r:id="rId17"/>
    <p:sldId id="281" r:id="rId18"/>
    <p:sldId id="282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presProps" Target="presProps.xml"  /><Relationship Id="rId31" Type="http://schemas.openxmlformats.org/officeDocument/2006/relationships/viewProps" Target="viewProps.xml"  /><Relationship Id="rId32" Type="http://schemas.openxmlformats.org/officeDocument/2006/relationships/theme" Target="theme/theme1.xml"  /><Relationship Id="rId33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5523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일반 코딩과 바이브 코딩 기념 이해하기</a:t>
            </a:r>
            <a:r>
              <a:rPr lang="en-US" altLang="ko-KR"/>
              <a:t>.</a:t>
            </a:r>
            <a:r>
              <a:rPr lang="ko-KR" altLang="en-US"/>
              <a:t> 자연어로 코딩하기</a:t>
            </a:r>
            <a:r>
              <a:rPr lang="en-US" altLang="ko-KR"/>
              <a:t>.</a:t>
            </a:r>
            <a:r>
              <a:rPr lang="ko-KR" altLang="en-US"/>
              <a:t> 자연어 설명</a:t>
            </a:r>
            <a:r>
              <a:rPr lang="en-US" altLang="ko-KR"/>
              <a:t>.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가 자연어를 코드로 변경하여 자동 코딩 언어를 산출해내는 시스템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6871113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끝내주는 기획만 있다면 당신도 끝내주는 개발자</a:t>
            </a:r>
            <a:r>
              <a:rPr lang="en-US" altLang="ko-KR"/>
              <a:t>!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088918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수많은 바이브코딩 온라인 강의</a:t>
            </a:r>
            <a:r>
              <a:rPr lang="en-US" altLang="ko-KR"/>
              <a:t>,</a:t>
            </a:r>
            <a:r>
              <a:rPr lang="ko-KR" altLang="en-US"/>
              <a:t> 주변에서 들리는 소식</a:t>
            </a:r>
            <a:r>
              <a:rPr lang="en-US" altLang="ko-KR"/>
              <a:t>....</a:t>
            </a:r>
            <a:r>
              <a:rPr lang="ko-KR" altLang="en-US"/>
              <a:t>하지만 직접 설치하고 실행하고 써먹기는 또 다른 영역처럼 느껴짐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그것을 해내려고 여러분이 모이셨고</a:t>
            </a:r>
            <a:r>
              <a:rPr lang="en-US" altLang="ko-KR"/>
              <a:t>,</a:t>
            </a:r>
            <a:r>
              <a:rPr lang="ko-KR" altLang="en-US"/>
              <a:t> 해보자</a:t>
            </a:r>
            <a:r>
              <a:rPr lang="en-US" altLang="ko-KR"/>
              <a:t>!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330192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일반 클러드와 클러드 코드는 어떻게 다른가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원하는 답변과 결과물에 따라 취사 선택하면 된다</a:t>
            </a:r>
            <a:r>
              <a:rPr lang="en-US" altLang="ko-KR"/>
              <a:t>.</a:t>
            </a:r>
            <a:r>
              <a:rPr lang="ko-KR" altLang="en-US"/>
              <a:t>클러드 코드는 나만의 자비스를 두는 것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우리 기존에 지피티</a:t>
            </a:r>
            <a:r>
              <a:rPr lang="en-US" altLang="ko-KR"/>
              <a:t>,</a:t>
            </a:r>
            <a:r>
              <a:rPr lang="ko-KR" altLang="en-US"/>
              <a:t> 제미나이 쓸 때 파일 하나씩 드래그해서 넣어주고</a:t>
            </a:r>
            <a:r>
              <a:rPr lang="en-US" altLang="ko-KR"/>
              <a:t>,</a:t>
            </a:r>
            <a:r>
              <a:rPr lang="ko-KR" altLang="en-US"/>
              <a:t> 이미지 내가 찍어서 보여주고</a:t>
            </a:r>
            <a:r>
              <a:rPr lang="en-US" altLang="ko-KR"/>
              <a:t>...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답 받으면 복붙해서 한글 파일에 옮겨쓰고</a:t>
            </a:r>
            <a:r>
              <a:rPr lang="en-US" altLang="ko-KR"/>
              <a:t>...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코드는 알아서 폴더 안에서 파일 열어보고요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‘</a:t>
            </a:r>
            <a:r>
              <a:rPr lang="ko-KR" altLang="en-US"/>
              <a:t>워드</a:t>
            </a:r>
            <a:r>
              <a:rPr lang="en-US" altLang="ko-KR"/>
              <a:t>,</a:t>
            </a:r>
            <a:r>
              <a:rPr lang="ko-KR" altLang="en-US"/>
              <a:t> 엑셀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PDF,</a:t>
            </a:r>
            <a:r>
              <a:rPr lang="ko-KR" altLang="en-US"/>
              <a:t> </a:t>
            </a:r>
            <a:r>
              <a:rPr lang="en-US" altLang="ko-KR"/>
              <a:t>html,</a:t>
            </a:r>
            <a:r>
              <a:rPr lang="ko-KR" altLang="en-US"/>
              <a:t> </a:t>
            </a:r>
            <a:r>
              <a:rPr lang="en-US" altLang="ko-KR"/>
              <a:t>ppt,</a:t>
            </a:r>
            <a:r>
              <a:rPr lang="ko-KR" altLang="en-US"/>
              <a:t> 데이터기반 그래프 이미지</a:t>
            </a:r>
            <a:r>
              <a:rPr lang="en-US" altLang="ko-KR"/>
              <a:t>(png, jpg)’</a:t>
            </a:r>
            <a:r>
              <a:rPr lang="ko-KR" altLang="en-US"/>
              <a:t>를 직접 파일로 저장합니다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다만 생성형 이미지</a:t>
            </a:r>
            <a:r>
              <a:rPr lang="en-US" altLang="ko-KR"/>
              <a:t>,</a:t>
            </a:r>
            <a:r>
              <a:rPr lang="ko-KR" altLang="en-US"/>
              <a:t> 영상은 안돼요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872940"/>
      </p:ext>
    </p:extLst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이것이 </a:t>
            </a:r>
            <a:r>
              <a:rPr lang="en-US" altLang="ko-KR"/>
              <a:t>30</a:t>
            </a:r>
            <a:r>
              <a:rPr lang="ko-KR" altLang="en-US"/>
              <a:t>분만에 만든 나만의 업무 대시보드</a:t>
            </a:r>
            <a:r>
              <a:rPr lang="en-US" altLang="ko-KR"/>
              <a:t>.</a:t>
            </a:r>
            <a:r>
              <a:rPr lang="ko-KR" altLang="en-US"/>
              <a:t> 그간 노션 하나씩 정리하고</a:t>
            </a:r>
            <a:r>
              <a:rPr lang="en-US" altLang="ko-KR"/>
              <a:t>,</a:t>
            </a:r>
            <a:r>
              <a:rPr lang="ko-KR" altLang="en-US"/>
              <a:t> 나한테 맞는 양식 조절하느라 쓴 시간을 순식간에 단축</a:t>
            </a:r>
            <a:r>
              <a:rPr lang="en-US" altLang="ko-KR"/>
              <a:t>!</a:t>
            </a:r>
            <a:r>
              <a:rPr lang="ko-KR" altLang="en-US"/>
              <a:t> 매일 맞춤형으로 받는 업무 브리핑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김비서라 이름 짓고 사용 중</a:t>
            </a:r>
            <a:r>
              <a:rPr lang="en-US" altLang="ko-KR"/>
              <a:t>.</a:t>
            </a:r>
            <a:r>
              <a:rPr lang="ko-KR" altLang="en-US"/>
              <a:t> 오늘 실습때 이거 같이 만들어 보자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이거 해보면 개발에 대한 심리적 장벽도 낮아지고 감도 잡게 될 것이다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837544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4</a:t>
            </a:r>
            <a:r>
              <a:rPr lang="ko-KR" altLang="en-US"/>
              <a:t>주간 점점 고도화 되는 나의 서비스를 느껴보세요</a:t>
            </a:r>
            <a:r>
              <a:rPr lang="en-US" altLang="ko-KR"/>
              <a:t>!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오늘은 다양한 개념을 이해하고 진득한 맛보기를 해 볼 것이다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오늘의 두시간으로 </a:t>
            </a:r>
            <a:r>
              <a:rPr lang="en-US" altLang="ko-KR"/>
              <a:t>ai</a:t>
            </a:r>
            <a:r>
              <a:rPr lang="ko-KR" altLang="en-US"/>
              <a:t>의 업무 활용에 대한 확장성에 대해 체험하고 깨달을 수 있을 것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67875"/>
      </p:ext>
    </p:extLst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데탑 설치 해 오셨죠</a:t>
            </a:r>
            <a:r>
              <a:rPr lang="en-US" altLang="ko-KR"/>
              <a:t>?</a:t>
            </a:r>
            <a:r>
              <a:rPr lang="ko-KR" altLang="en-US"/>
              <a:t> 간략히 살펴볼까요</a:t>
            </a:r>
            <a:r>
              <a:rPr lang="en-US" altLang="ko-KR"/>
              <a:t>?</a:t>
            </a:r>
            <a:endParaRPr lang="en-US" altLang="ko-KR"/>
          </a:p>
          <a:p>
            <a:pPr lvl="0">
              <a:defRPr/>
            </a:pPr>
            <a:r>
              <a:rPr lang="ko-KR" altLang="en-US"/>
              <a:t>중앙 산단에서 채팅과 코드 모드를 바꿔가며 사용할 수 있습니다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좌상단에서 지난채팅 확인하시고요</a:t>
            </a:r>
            <a:r>
              <a:rPr lang="en-US" altLang="ko-KR"/>
              <a:t>~</a:t>
            </a:r>
            <a:r>
              <a:rPr lang="ko-KR" altLang="en-US"/>
              <a:t> 사용량도 종종 확인하시구요</a:t>
            </a:r>
            <a:r>
              <a:rPr lang="en-US" altLang="ko-KR"/>
              <a:t>~</a:t>
            </a:r>
            <a:br>
              <a:rPr lang="ko-KR" altLang="en-US"/>
            </a:br>
            <a:r>
              <a:rPr lang="ko-KR" altLang="en-US"/>
              <a:t>중요한거 하단에서 채팅</a:t>
            </a:r>
            <a:r>
              <a:rPr lang="en-US" altLang="ko-KR"/>
              <a:t>(</a:t>
            </a:r>
            <a:r>
              <a:rPr lang="ko-KR" altLang="en-US"/>
              <a:t>프로젝트</a:t>
            </a:r>
            <a:r>
              <a:rPr lang="en-US" altLang="ko-KR"/>
              <a:t>)</a:t>
            </a:r>
            <a:r>
              <a:rPr lang="ko-KR" altLang="en-US"/>
              <a:t>별 공유할 폴더를 설정할 수 있다는 것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204960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오류나신분 같이 해결해드릴게요</a:t>
            </a:r>
            <a:r>
              <a:rPr lang="en-US" altLang="ko-KR"/>
              <a:t>~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38203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실습을 위해서 가상의 프로젝트 파일을 제가 만들어 두었습니다</a:t>
            </a:r>
            <a:r>
              <a:rPr lang="en-US" altLang="ko-KR"/>
              <a:t>.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실제 업무자의 폴더처럼 회의록</a:t>
            </a:r>
            <a:r>
              <a:rPr lang="en-US" altLang="ko-KR"/>
              <a:t>,</a:t>
            </a:r>
            <a:r>
              <a:rPr lang="ko-KR" altLang="en-US"/>
              <a:t> 엑셀 차트 등이 들어 있어요</a:t>
            </a:r>
            <a:r>
              <a:rPr lang="en-US" altLang="ko-KR"/>
              <a:t>.</a:t>
            </a:r>
            <a:r>
              <a:rPr lang="ko-KR" altLang="en-US"/>
              <a:t> 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링크 타고 가서 다운 받고 한 폴더에 압축 풀어주세요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40053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클러드 코드와 이 폴더를 공유해 봅시다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빠르게 마친 분들은 확인 차 아래 질문들을 던져 보세요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94350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7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Relationship Id="rId5" Type="http://schemas.openxmlformats.org/officeDocument/2006/relationships/image" Target="../media/image10.png"  /><Relationship Id="rId6" Type="http://schemas.openxmlformats.org/officeDocument/2006/relationships/image" Target="../media/image11.png"  /><Relationship Id="rId7" Type="http://schemas.openxmlformats.org/officeDocument/2006/relationships/image" Target="../media/image12.png"  /><Relationship Id="rId8" Type="http://schemas.openxmlformats.org/officeDocument/2006/relationships/image" Target="../media/image13.png"  /><Relationship Id="rId9" Type="http://schemas.openxmlformats.org/officeDocument/2006/relationships/image" Target="../media/image1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3.xml"  /><Relationship Id="rId3" Type="http://schemas.openxmlformats.org/officeDocument/2006/relationships/hyperlink" Target="https://git-scm.com/downloads/win" TargetMode="External" /><Relationship Id="rId4" Type="http://schemas.openxmlformats.org/officeDocument/2006/relationships/image" Target="../media/image20.png"  /><Relationship Id="rId5" Type="http://schemas.openxmlformats.org/officeDocument/2006/relationships/image" Target="../media/image2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14.png"  /><Relationship Id="rId4" Type="http://schemas.openxmlformats.org/officeDocument/2006/relationships/hyperlink" Target="https://drive.google.com/drive/folders/1lpaZiNEKzLj71bpt5fG_ucWvptvhB8PL" TargetMode="External" /><Relationship Id="rId5" Type="http://schemas.openxmlformats.org/officeDocument/2006/relationships/image" Target="../media/image22.png"  /><Relationship Id="rId6" Type="http://schemas.openxmlformats.org/officeDocument/2006/relationships/image" Target="../media/image23.png"  /><Relationship Id="rId7" Type="http://schemas.openxmlformats.org/officeDocument/2006/relationships/image" Target="../media/image24.png"  /><Relationship Id="rId8" Type="http://schemas.openxmlformats.org/officeDocument/2006/relationships/image" Target="../media/image25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26.png"  /><Relationship Id="rId4" Type="http://schemas.openxmlformats.org/officeDocument/2006/relationships/image" Target="../media/image14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7.png"  /><Relationship Id="rId3" Type="http://schemas.openxmlformats.org/officeDocument/2006/relationships/image" Target="../media/image27.png"  /><Relationship Id="rId4" Type="http://schemas.openxmlformats.org/officeDocument/2006/relationships/image" Target="../media/image28.png"  /><Relationship Id="rId5" Type="http://schemas.openxmlformats.org/officeDocument/2006/relationships/image" Target="../media/image29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0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31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가로 글상자 1"/>
          <p:cNvSpPr txBox="1"/>
          <p:nvPr/>
        </p:nvSpPr>
        <p:spPr>
          <a:xfrm>
            <a:off x="2680335" y="1860742"/>
            <a:ext cx="257540" cy="366203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/>
              <a:t>1.</a:t>
            </a:r>
            <a:r>
              <a:rPr lang="ko-KR" altLang="en-US"/>
              <a:t> 표지</a:t>
            </a: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3049116" y="2559372"/>
            <a:ext cx="6093768" cy="1739256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내 컴퓨터에 개발자 앉히기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1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강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2.</a:t>
            </a:r>
            <a:r>
              <a:rPr lang="ko-KR" altLang="en-US"/>
              <a:t> 강사 소개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73692" y="2029644"/>
            <a:ext cx="8644615" cy="279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97733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3.</a:t>
            </a:r>
            <a:r>
              <a:rPr lang="ko-KR" altLang="en-US"/>
              <a:t> 오늘의 일정</a:t>
            </a: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1190220" y="1190898"/>
            <a:ext cx="9811560" cy="4476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1.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강사소개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2.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클러드 코드 이해하기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3.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클러드 데스크탑 설치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4.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실습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1: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바이브 코딩으로 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‘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김비서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’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개발하기 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5.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실습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2: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바이브코딩으로 업무 가속화하기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6.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로컬 서버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?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배포하기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?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서버 이해하기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7.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정리하기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8.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Q&amp;A / 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자유 실습   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        </a:t>
            </a:r>
            <a:endParaRPr lang="en-US" altLang="ko-KR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803770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4.</a:t>
            </a:r>
            <a:r>
              <a:rPr lang="ko-KR" altLang="en-US"/>
              <a:t> 클러드코드 이해하기</a:t>
            </a:r>
            <a:r>
              <a:rPr lang="en-US" altLang="ko-KR"/>
              <a:t>1</a:t>
            </a:r>
            <a:endParaRPr lang="en-US" altLang="ko-KR"/>
          </a:p>
        </p:txBody>
      </p:sp>
      <p:sp>
        <p:nvSpPr>
          <p:cNvPr id="3" name="가로 글상자 2"/>
          <p:cNvSpPr txBox="1"/>
          <p:nvPr/>
        </p:nvSpPr>
        <p:spPr>
          <a:xfrm>
            <a:off x="2414114" y="724261"/>
            <a:ext cx="6728769" cy="6359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바이브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코딩 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VIBE CODING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이란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?</a:t>
            </a:r>
            <a:endParaRPr lang="en-US" altLang="ko-KR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79635" y="2401054"/>
            <a:ext cx="4852703" cy="2681323"/>
          </a:xfrm>
          <a:prstGeom prst="rect">
            <a:avLst/>
          </a:prstGeom>
        </p:spPr>
      </p:pic>
      <p:sp>
        <p:nvSpPr>
          <p:cNvPr id="6" name="가로 글상자 5"/>
          <p:cNvSpPr txBox="1"/>
          <p:nvPr/>
        </p:nvSpPr>
        <p:spPr>
          <a:xfrm>
            <a:off x="201334" y="5357298"/>
            <a:ext cx="5209305" cy="639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C#, C++,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파이썬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,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자바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...</a:t>
            </a:r>
            <a:endParaRPr lang="en-US" altLang="ko-KR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207796" y="4117838"/>
            <a:ext cx="1919555" cy="192908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flipH="1">
            <a:off x="9843946" y="1550661"/>
            <a:ext cx="2029108" cy="2191055"/>
          </a:xfrm>
          <a:prstGeom prst="rect">
            <a:avLst/>
          </a:prstGeom>
        </p:spPr>
      </p:pic>
      <p:sp>
        <p:nvSpPr>
          <p:cNvPr id="9" name="모서리가 둥근 사각형 설명선 8"/>
          <p:cNvSpPr/>
          <p:nvPr/>
        </p:nvSpPr>
        <p:spPr>
          <a:xfrm>
            <a:off x="5989087" y="1961372"/>
            <a:ext cx="3508698" cy="1185765"/>
          </a:xfrm>
          <a:prstGeom prst="wedgeRoundRectCallout">
            <a:avLst>
              <a:gd name="adj1" fmla="val 57503"/>
              <a:gd name="adj2" fmla="val 12322"/>
              <a:gd name="adj3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sz="2000" b="1"/>
              <a:t>고급스러운데 단순하고 화려하지만 수수한 귀여움이 느껴지는 홈페이지 만들어 줘</a:t>
            </a:r>
            <a:endParaRPr lang="ko-KR" altLang="en-US" sz="2000" b="1"/>
          </a:p>
        </p:txBody>
      </p:sp>
      <p:sp>
        <p:nvSpPr>
          <p:cNvPr id="10" name="모서리가 둥근 사각형 설명선 9"/>
          <p:cNvSpPr/>
          <p:nvPr/>
        </p:nvSpPr>
        <p:spPr>
          <a:xfrm>
            <a:off x="8409215" y="4643923"/>
            <a:ext cx="3090765" cy="612321"/>
          </a:xfrm>
          <a:prstGeom prst="wedgeRoundRectCallout">
            <a:avLst>
              <a:gd name="adj1" fmla="val -55136"/>
              <a:gd name="adj2" fmla="val 89123"/>
              <a:gd name="adj3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네</a:t>
            </a:r>
            <a:r>
              <a:rPr lang="en-US" altLang="ko-KR"/>
              <a:t>.</a:t>
            </a:r>
            <a:r>
              <a:rPr lang="ko-KR" altLang="en-US"/>
              <a:t> 알겠습니다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11" name="타원 10"/>
          <p:cNvSpPr/>
          <p:nvPr/>
        </p:nvSpPr>
        <p:spPr>
          <a:xfrm>
            <a:off x="11373628" y="1480017"/>
            <a:ext cx="499426" cy="481355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b="1"/>
              <a:t>나</a:t>
            </a:r>
            <a:endParaRPr lang="ko-KR" altLang="en-US" b="1"/>
          </a:p>
        </p:txBody>
      </p:sp>
      <p:sp>
        <p:nvSpPr>
          <p:cNvPr id="12" name="타원 11"/>
          <p:cNvSpPr/>
          <p:nvPr/>
        </p:nvSpPr>
        <p:spPr>
          <a:xfrm>
            <a:off x="6207797" y="5565564"/>
            <a:ext cx="625777" cy="481355"/>
          </a:xfrm>
          <a:prstGeom prst="ellipse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AI</a:t>
            </a:r>
            <a:endParaRPr lang="en-US" altLang="ko-KR" b="1"/>
          </a:p>
        </p:txBody>
      </p:sp>
      <p:cxnSp>
        <p:nvCxnSpPr>
          <p:cNvPr id="13" name="선 12"/>
          <p:cNvCxnSpPr/>
          <p:nvPr/>
        </p:nvCxnSpPr>
        <p:spPr>
          <a:xfrm rot="16200000" flipH="1">
            <a:off x="3230940" y="4143181"/>
            <a:ext cx="4844973" cy="0"/>
          </a:xfrm>
          <a:prstGeom prst="line">
            <a:avLst/>
          </a:prstGeom>
          <a:ln w="38100">
            <a:solidFill>
              <a:schemeClr val="accent1">
                <a:satMod val="10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061400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5. </a:t>
            </a:r>
            <a:r>
              <a:rPr lang="ko-KR" altLang="en-US"/>
              <a:t>클러드</a:t>
            </a:r>
            <a:r>
              <a:rPr lang="en-US" altLang="ko-KR"/>
              <a:t> </a:t>
            </a:r>
            <a:r>
              <a:rPr lang="ko-KR" altLang="en-US"/>
              <a:t>코드 이해하기</a:t>
            </a:r>
            <a:r>
              <a:rPr lang="en-US" altLang="ko-KR"/>
              <a:t>2</a:t>
            </a:r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78295" y="1138509"/>
            <a:ext cx="10835409" cy="458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52105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56889" y="685417"/>
            <a:ext cx="7678221" cy="548716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6. </a:t>
            </a:r>
            <a:r>
              <a:rPr lang="ko-KR" altLang="en-US"/>
              <a:t>클러드</a:t>
            </a:r>
            <a:r>
              <a:rPr lang="en-US" altLang="ko-KR"/>
              <a:t> </a:t>
            </a:r>
            <a:r>
              <a:rPr lang="ko-KR" altLang="en-US"/>
              <a:t>코드 이해하기</a:t>
            </a:r>
            <a:r>
              <a:rPr lang="en-US" altLang="ko-KR"/>
              <a:t>3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48267585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6096000" y="906180"/>
            <a:ext cx="5716000" cy="5140888"/>
          </a:xfrm>
          <a:prstGeom prst="rect">
            <a:avLst/>
          </a:prstGeom>
          <a:solidFill>
            <a:srgbClr val="eabcd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41011" y="905081"/>
            <a:ext cx="5854988" cy="5140888"/>
          </a:xfrm>
          <a:prstGeom prst="rect">
            <a:avLst/>
          </a:prstGeom>
          <a:solidFill>
            <a:srgbClr val="f6dfaa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3410" y="3550294"/>
            <a:ext cx="965959" cy="131172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096000" y="3629025"/>
            <a:ext cx="0" cy="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83410" y="4928699"/>
            <a:ext cx="965959" cy="37743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3410" y="2483037"/>
            <a:ext cx="965960" cy="1000582"/>
          </a:xfrm>
          <a:prstGeom prst="rect">
            <a:avLst/>
          </a:prstGeom>
        </p:spPr>
      </p:pic>
      <p:sp>
        <p:nvSpPr>
          <p:cNvPr id="7" name="모서리가 둥근 사각형 설명선 6"/>
          <p:cNvSpPr/>
          <p:nvPr/>
        </p:nvSpPr>
        <p:spPr>
          <a:xfrm>
            <a:off x="2051233" y="1514738"/>
            <a:ext cx="2597727" cy="1077575"/>
          </a:xfrm>
          <a:prstGeom prst="wedgeRoundRectCallout">
            <a:avLst>
              <a:gd name="adj1" fmla="val 51873"/>
              <a:gd name="adj2" fmla="val 69667"/>
              <a:gd name="adj3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 b="1">
                <a:solidFill>
                  <a:srgbClr val="0d0d0d"/>
                </a:solidFill>
              </a:rPr>
              <a:t>질문</a:t>
            </a:r>
            <a:r>
              <a:rPr lang="ko-KR" altLang="en-US"/>
              <a:t> </a:t>
            </a:r>
            <a:endParaRPr lang="ko-KR" altLang="en-US"/>
          </a:p>
          <a:p>
            <a:pPr lvl="0" algn="ctr">
              <a:defRPr/>
            </a:pPr>
            <a:r>
              <a:rPr lang="ko-KR" altLang="en-US"/>
              <a:t>텍스트</a:t>
            </a:r>
            <a:r>
              <a:rPr lang="en-US" altLang="ko-KR"/>
              <a:t>,</a:t>
            </a:r>
            <a:r>
              <a:rPr lang="ko-KR" altLang="en-US"/>
              <a:t> 이미지</a:t>
            </a:r>
            <a:r>
              <a:rPr lang="en-US" altLang="ko-KR"/>
              <a:t>,</a:t>
            </a:r>
            <a:r>
              <a:rPr lang="ko-KR" altLang="en-US"/>
              <a:t> </a:t>
            </a:r>
            <a:endParaRPr lang="en-US" altLang="ko-KR"/>
          </a:p>
          <a:p>
            <a:pPr lvl="0" algn="ctr">
              <a:defRPr/>
            </a:pPr>
            <a:r>
              <a:rPr lang="en-US" altLang="ko-KR"/>
              <a:t>PDF</a:t>
            </a:r>
            <a:r>
              <a:rPr lang="ko-KR" altLang="en-US"/>
              <a:t> 전달</a:t>
            </a:r>
            <a:endParaRPr lang="ko-KR" altLang="en-US"/>
          </a:p>
        </p:txBody>
      </p:sp>
      <p:sp>
        <p:nvSpPr>
          <p:cNvPr id="8" name="모서리가 둥근 사각형 설명선 7"/>
          <p:cNvSpPr/>
          <p:nvPr/>
        </p:nvSpPr>
        <p:spPr>
          <a:xfrm>
            <a:off x="2094034" y="2909366"/>
            <a:ext cx="2824320" cy="2770909"/>
          </a:xfrm>
          <a:prstGeom prst="wedgeRoundRectCallout">
            <a:avLst>
              <a:gd name="adj1" fmla="val -58720"/>
              <a:gd name="adj2" fmla="val 22561"/>
              <a:gd name="adj3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b="1">
                <a:solidFill>
                  <a:srgbClr val="0d0d0d"/>
                </a:solidFill>
              </a:rPr>
              <a:t>답변</a:t>
            </a:r>
            <a:endParaRPr lang="ko-KR" altLang="en-US"/>
          </a:p>
          <a:p>
            <a:pPr lvl="0" algn="ctr">
              <a:defRPr/>
            </a:pPr>
            <a:r>
              <a:rPr lang="en-US" altLang="ko-KR"/>
              <a:t>-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리서치</a:t>
            </a:r>
            <a:r>
              <a:rPr lang="en-US" altLang="ko-KR"/>
              <a:t>/</a:t>
            </a:r>
            <a:r>
              <a:rPr lang="ko-KR" altLang="en-US"/>
              <a:t>문자 전달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이미지 생성</a:t>
            </a:r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098885" y="1547522"/>
            <a:ext cx="1667107" cy="4163005"/>
          </a:xfrm>
          <a:prstGeom prst="rect">
            <a:avLst/>
          </a:prstGeom>
        </p:spPr>
      </p:pic>
      <p:sp>
        <p:nvSpPr>
          <p:cNvPr id="12" name="모서리가 둥근 사각형 설명선 11"/>
          <p:cNvSpPr/>
          <p:nvPr/>
        </p:nvSpPr>
        <p:spPr>
          <a:xfrm>
            <a:off x="7494241" y="1547522"/>
            <a:ext cx="3088409" cy="1077575"/>
          </a:xfrm>
          <a:prstGeom prst="wedgeRoundRectCallout">
            <a:avLst>
              <a:gd name="adj1" fmla="val -51296"/>
              <a:gd name="adj2" fmla="val 67106"/>
              <a:gd name="adj3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b="1">
                <a:solidFill>
                  <a:srgbClr val="0d0d0d"/>
                </a:solidFill>
              </a:rPr>
              <a:t>질문</a:t>
            </a:r>
            <a:r>
              <a:rPr lang="ko-KR" altLang="en-US"/>
              <a:t> </a:t>
            </a:r>
            <a:endParaRPr lang="ko-KR" altLang="en-US"/>
          </a:p>
          <a:p>
            <a:pPr lvl="0" algn="ctr">
              <a:defRPr/>
            </a:pPr>
            <a:r>
              <a:rPr lang="ko-KR" altLang="en-US"/>
              <a:t>폴더 공유</a:t>
            </a:r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137504" y="3383566"/>
            <a:ext cx="1978295" cy="1073193"/>
          </a:xfrm>
          <a:prstGeom prst="rect">
            <a:avLst/>
          </a:prstGeom>
        </p:spPr>
      </p:pic>
      <p:sp>
        <p:nvSpPr>
          <p:cNvPr id="15" name="모서리가 둥근 사각형 설명선 14"/>
          <p:cNvSpPr/>
          <p:nvPr/>
        </p:nvSpPr>
        <p:spPr>
          <a:xfrm>
            <a:off x="7195902" y="3071304"/>
            <a:ext cx="2824320" cy="2770909"/>
          </a:xfrm>
          <a:prstGeom prst="wedgeRoundRectCallout">
            <a:avLst>
              <a:gd name="adj1" fmla="val 70307"/>
              <a:gd name="adj2" fmla="val 4129"/>
              <a:gd name="adj3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b="1">
                <a:solidFill>
                  <a:srgbClr val="0d0d0d"/>
                </a:solidFill>
              </a:rPr>
              <a:t>답변</a:t>
            </a:r>
            <a:endParaRPr lang="ko-KR" altLang="en-US"/>
          </a:p>
          <a:p>
            <a:pPr lvl="0" algn="ctr">
              <a:defRPr/>
            </a:pPr>
            <a:r>
              <a:rPr lang="en-US" altLang="ko-KR"/>
              <a:t>-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프로젝트 폴더를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스스로 서치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결과물을 폴더에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직접 생성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바이브코딩</a:t>
            </a: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7. </a:t>
            </a:r>
            <a:r>
              <a:rPr lang="ko-KR" altLang="en-US"/>
              <a:t>클러드</a:t>
            </a:r>
            <a:r>
              <a:rPr lang="en-US" altLang="ko-KR"/>
              <a:t> </a:t>
            </a:r>
            <a:r>
              <a:rPr lang="ko-KR" altLang="en-US"/>
              <a:t>코드 이해하기</a:t>
            </a:r>
            <a:r>
              <a:rPr lang="en-US" altLang="ko-KR"/>
              <a:t>4</a:t>
            </a:r>
            <a:endParaRPr lang="en-US" altLang="ko-KR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7195902" y="1105106"/>
            <a:ext cx="914527" cy="82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15196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8.</a:t>
            </a:r>
            <a:r>
              <a:rPr lang="ko-KR" altLang="en-US"/>
              <a:t> 클러드</a:t>
            </a:r>
            <a:r>
              <a:rPr lang="en-US" altLang="ko-KR"/>
              <a:t> </a:t>
            </a:r>
            <a:r>
              <a:rPr lang="ko-KR" altLang="en-US"/>
              <a:t>코드 이해하기</a:t>
            </a:r>
            <a:r>
              <a:rPr lang="en-US" altLang="ko-KR"/>
              <a:t>5</a:t>
            </a:r>
            <a:r>
              <a:rPr lang="ko-KR" altLang="en-US"/>
              <a:t> 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57199" y="358968"/>
            <a:ext cx="5677602" cy="614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39110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85309" y="2123892"/>
            <a:ext cx="8821381" cy="2610214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9. </a:t>
            </a:r>
            <a:r>
              <a:rPr lang="ko-KR" altLang="en-US"/>
              <a:t>클러드</a:t>
            </a:r>
            <a:r>
              <a:rPr lang="en-US" altLang="ko-KR"/>
              <a:t> </a:t>
            </a:r>
            <a:r>
              <a:rPr lang="ko-KR" altLang="en-US"/>
              <a:t>코드 이해하기</a:t>
            </a:r>
            <a:r>
              <a:rPr lang="en-US" altLang="ko-KR"/>
              <a:t>6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16384275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10.</a:t>
            </a:r>
            <a:r>
              <a:rPr lang="ko-KR" altLang="en-US"/>
              <a:t> 클러드 </a:t>
            </a:r>
            <a:endParaRPr lang="ko-KR" altLang="en-US"/>
          </a:p>
          <a:p>
            <a:pPr lvl="0" algn="ctr">
              <a:defRPr/>
            </a:pPr>
            <a:r>
              <a:rPr lang="ko-KR" altLang="en-US"/>
              <a:t>데스크탑 설치</a:t>
            </a:r>
            <a:r>
              <a:rPr lang="en-US" altLang="ko-KR"/>
              <a:t>1</a:t>
            </a:r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086609" y="349683"/>
            <a:ext cx="7490562" cy="6008995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111744" y="349683"/>
            <a:ext cx="1428365" cy="3089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326882" y="349683"/>
            <a:ext cx="361565" cy="3089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086609" y="5864657"/>
            <a:ext cx="2142740" cy="4940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92536" y="2083558"/>
            <a:ext cx="3604266" cy="3781099"/>
          </a:xfrm>
          <a:prstGeom prst="rect">
            <a:avLst/>
          </a:prstGeom>
          <a:ln w="19050">
            <a:solidFill>
              <a:srgbClr val="ff0000"/>
            </a:solidFill>
          </a:ln>
        </p:spPr>
      </p:pic>
      <p:cxnSp>
        <p:nvCxnSpPr>
          <p:cNvPr id="8" name="선 7"/>
          <p:cNvCxnSpPr>
            <a:endCxn id="6" idx="1"/>
          </p:cNvCxnSpPr>
          <p:nvPr/>
        </p:nvCxnSpPr>
        <p:spPr>
          <a:xfrm rot="16200000" flipH="1">
            <a:off x="3868201" y="5893259"/>
            <a:ext cx="247010" cy="18980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49686" y="2933025"/>
            <a:ext cx="614170" cy="2497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6470007" y="5864658"/>
            <a:ext cx="1104516" cy="247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54557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"/>
          <p:cNvGrpSpPr/>
          <p:nvPr/>
        </p:nvGrpSpPr>
        <p:grpSpPr>
          <a:xfrm rot="0">
            <a:off x="0" y="5353050"/>
            <a:ext cx="12192000" cy="1028700"/>
            <a:chOff x="0" y="1466850"/>
            <a:chExt cx="12192000" cy="1028700"/>
          </a:xfrm>
        </p:grpSpPr>
        <p:sp>
          <p:nvSpPr>
            <p:cNvPr id="5" name="직사각형 4"/>
            <p:cNvSpPr/>
            <p:nvPr/>
          </p:nvSpPr>
          <p:spPr>
            <a:xfrm>
              <a:off x="0" y="1466850"/>
              <a:ext cx="12192000" cy="1028700"/>
            </a:xfrm>
            <a:prstGeom prst="rect">
              <a:avLst/>
            </a:prstGeom>
            <a:solidFill>
              <a:srgbClr val="f3dddd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3" name="직사각형 2"/>
            <p:cNvSpPr/>
            <p:nvPr/>
          </p:nvSpPr>
          <p:spPr>
            <a:xfrm>
              <a:off x="2556510" y="1680686"/>
              <a:ext cx="7840980" cy="7272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p>
              <a:pPr lvl="0" algn="ctr">
                <a:defRPr/>
              </a:pPr>
              <a:r>
                <a:rPr xmlns:mc="http://schemas.openxmlformats.org/markup-compatibility/2006" xmlns:hp="http://schemas.haansoft.com/office/presentation/8.0" sz="2500" b="1" i="0" strike="noStrike" mc:Ignorable="hp" hp:hslEmbossed="0">
                  <a:solidFill>
                    <a:srgbClr val="000000">
                      <a:alpha val="100000"/>
                    </a:srgbClr>
                  </a:solidFill>
                  <a:latin typeface="Arial"/>
                  <a:ea typeface="굴림"/>
                </a:rPr>
                <a:t> </a:t>
              </a:r>
              <a:r>
                <a:rPr xmlns:mc="http://schemas.openxmlformats.org/markup-compatibility/2006" xmlns:hp="http://schemas.haansoft.com/office/presentation/8.0" sz="1700" b="1" i="0" strike="noStrike" mc:Ignorable="hp" hp:hslEmbossed="0">
                  <a:solidFill>
                    <a:srgbClr val="000000">
                      <a:alpha val="100000"/>
                    </a:srgbClr>
                  </a:solidFill>
                  <a:latin typeface="Arial"/>
                  <a:ea typeface="굴림"/>
                </a:rPr>
                <a:t>Windows에서는 로컬 세션이 작동하려면 </a:t>
              </a:r>
              <a:r>
                <a:rPr xmlns:mc="http://schemas.openxmlformats.org/markup-compatibility/2006" xmlns:hp="http://schemas.haansoft.com/office/presentation/8.0" sz="1700" b="1" i="0" strike="noStrike" mc:Ignorable="hp" hp:hslEmbossed="0">
                  <a:solidFill>
                    <a:srgbClr val="000000">
                      <a:alpha val="100000"/>
                    </a:srgbClr>
                  </a:solidFill>
                  <a:latin typeface="Arial"/>
                  <a:ea typeface="굴림"/>
                  <a:hlinkClick r:id="rId3"/>
                </a:rPr>
                <a:t>Git</a:t>
              </a:r>
              <a:r>
                <a:rPr xmlns:mc="http://schemas.openxmlformats.org/markup-compatibility/2006" xmlns:hp="http://schemas.haansoft.com/office/presentation/8.0" sz="1700" b="1" i="0" strike="noStrike" mc:Ignorable="hp" hp:hslEmbossed="0">
                  <a:solidFill>
                    <a:srgbClr val="000000">
                      <a:alpha val="100000"/>
                    </a:srgbClr>
                  </a:solidFill>
                  <a:latin typeface="Arial"/>
                  <a:ea typeface="굴림"/>
                </a:rPr>
                <a:t>이 설치되어 있어야 합니다. </a:t>
              </a:r>
              <a:endParaRPr xmlns:mc="http://schemas.openxmlformats.org/markup-compatibility/2006" xmlns:hp="http://schemas.haansoft.com/office/presentation/8.0" sz="17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endParaRPr>
            </a:p>
            <a:p>
              <a:pPr lvl="0" algn="ctr">
                <a:defRPr/>
              </a:pPr>
              <a:r>
                <a:rPr xmlns:mc="http://schemas.openxmlformats.org/markup-compatibility/2006" xmlns:hp="http://schemas.haansoft.com/office/presentation/8.0" sz="1700" b="1" i="0" strike="noStrike" mc:Ignorable="hp" hp:hslEmbossed="0">
                  <a:solidFill>
                    <a:srgbClr val="000000">
                      <a:alpha val="100000"/>
                    </a:srgbClr>
                  </a:solidFill>
                  <a:latin typeface="Arial"/>
                  <a:ea typeface="굴림"/>
                </a:rPr>
                <a:t>대부분의 Mac에는 기본적으로 Git이 포함되어 있습니다.</a:t>
              </a:r>
              <a:endParaRPr xmlns:mc="http://schemas.openxmlformats.org/markup-compatibility/2006" xmlns:hp="http://schemas.haansoft.com/office/presentation/8.0" sz="17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776290" y="1752366"/>
            <a:ext cx="5325218" cy="335326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/>
          <a:srcRect/>
          <a:stretch>
            <a:fillRect/>
          </a:stretch>
        </p:blipFill>
        <p:spPr>
          <a:xfrm rot="20313416">
            <a:off x="1084990" y="3565259"/>
            <a:ext cx="1316421" cy="290553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11.</a:t>
            </a:r>
            <a:r>
              <a:rPr lang="ko-KR" altLang="en-US"/>
              <a:t> 클러드 </a:t>
            </a:r>
            <a:endParaRPr lang="ko-KR" altLang="en-US"/>
          </a:p>
          <a:p>
            <a:pPr lvl="0" algn="ctr">
              <a:defRPr/>
            </a:pPr>
            <a:r>
              <a:rPr lang="ko-KR" altLang="en-US"/>
              <a:t>데스크탑 설치</a:t>
            </a:r>
            <a:r>
              <a:rPr lang="en-US" altLang="ko-KR"/>
              <a:t>2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12049966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12.</a:t>
            </a:r>
            <a:r>
              <a:rPr lang="ko-KR" altLang="en-US"/>
              <a:t> 실습</a:t>
            </a:r>
            <a:r>
              <a:rPr lang="en-US" altLang="ko-KR"/>
              <a:t>1</a:t>
            </a:r>
            <a:r>
              <a:rPr lang="ko-KR" altLang="en-US"/>
              <a:t>번 </a:t>
            </a:r>
            <a:r>
              <a:rPr lang="en-US" altLang="ko-KR"/>
              <a:t>1</a:t>
            </a:r>
            <a:endParaRPr lang="en-US" altLang="ko-KR"/>
          </a:p>
        </p:txBody>
      </p:sp>
      <p:sp>
        <p:nvSpPr>
          <p:cNvPr id="9" name="가로 글상자 8"/>
          <p:cNvSpPr txBox="1"/>
          <p:nvPr/>
        </p:nvSpPr>
        <p:spPr>
          <a:xfrm>
            <a:off x="2699569" y="3279457"/>
            <a:ext cx="4629150" cy="36671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endParaRPr lang="en-US" altLang="en-US"/>
          </a:p>
        </p:txBody>
      </p:sp>
      <p:grpSp>
        <p:nvGrpSpPr>
          <p:cNvPr id="13" name=""/>
          <p:cNvGrpSpPr/>
          <p:nvPr/>
        </p:nvGrpSpPr>
        <p:grpSpPr>
          <a:xfrm rot="0">
            <a:off x="474909" y="1274331"/>
            <a:ext cx="2238502" cy="2014651"/>
            <a:chOff x="2519235" y="1888693"/>
            <a:chExt cx="2238502" cy="2014651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2519235" y="1888693"/>
              <a:ext cx="2238502" cy="2014651"/>
            </a:xfrm>
            <a:prstGeom prst="rect">
              <a:avLst/>
            </a:prstGeom>
          </p:spPr>
        </p:pic>
        <p:sp>
          <p:nvSpPr>
            <p:cNvPr id="11" name="가로 글상자 10"/>
            <p:cNvSpPr txBox="1"/>
            <p:nvPr/>
          </p:nvSpPr>
          <p:spPr>
            <a:xfrm>
              <a:off x="3042221" y="3069374"/>
              <a:ext cx="1192531" cy="367246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lvl="0">
                <a:defRPr/>
              </a:pPr>
              <a:r>
                <a:rPr lang="ko-KR" altLang="en-US" b="1"/>
                <a:t>실습 폴더</a:t>
              </a:r>
              <a:endParaRPr lang="ko-KR" altLang="en-US" b="1"/>
            </a:p>
          </p:txBody>
        </p:sp>
      </p:grpSp>
      <p:sp>
        <p:nvSpPr>
          <p:cNvPr id="12" name="모서리가 둥근 직사각형 11">
            <a:hlinkClick r:id="rId4"/>
          </p:cNvPr>
          <p:cNvSpPr/>
          <p:nvPr/>
        </p:nvSpPr>
        <p:spPr>
          <a:xfrm>
            <a:off x="622102" y="3288982"/>
            <a:ext cx="1944117" cy="630554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다운로드</a:t>
            </a:r>
            <a:endParaRPr lang="ko-KR" altLang="en-US"/>
          </a:p>
        </p:txBody>
      </p:sp>
      <p:sp>
        <p:nvSpPr>
          <p:cNvPr id="14" name="아래쪽 화살표 13"/>
          <p:cNvSpPr/>
          <p:nvPr/>
        </p:nvSpPr>
        <p:spPr>
          <a:xfrm>
            <a:off x="1447030" y="4148137"/>
            <a:ext cx="285750" cy="523875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622102" y="5165407"/>
            <a:ext cx="1944117" cy="630554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/>
              <a:t>압축풀기</a:t>
            </a:r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5"/>
          <a:srcRect r="32400" b="31550"/>
          <a:stretch>
            <a:fillRect/>
          </a:stretch>
        </p:blipFill>
        <p:spPr>
          <a:xfrm>
            <a:off x="3741722" y="555428"/>
            <a:ext cx="6095299" cy="3090741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6607776" y="584003"/>
            <a:ext cx="1337109" cy="3367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6660164" y="1255281"/>
            <a:ext cx="1022784" cy="282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908213" y="4410075"/>
            <a:ext cx="1019317" cy="122889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014144" y="4276364"/>
            <a:ext cx="5953956" cy="2581635"/>
          </a:xfrm>
          <a:prstGeom prst="rect">
            <a:avLst/>
          </a:prstGeom>
        </p:spPr>
      </p:pic>
      <p:sp>
        <p:nvSpPr>
          <p:cNvPr id="22" name="직사각형 21"/>
          <p:cNvSpPr/>
          <p:nvPr/>
        </p:nvSpPr>
        <p:spPr>
          <a:xfrm>
            <a:off x="5014144" y="4276364"/>
            <a:ext cx="4785159" cy="282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23" name="화살표 22"/>
          <p:cNvCxnSpPr>
            <a:stCxn id="19" idx="3"/>
            <a:endCxn id="22" idx="1"/>
          </p:cNvCxnSpPr>
          <p:nvPr/>
        </p:nvCxnSpPr>
        <p:spPr>
          <a:xfrm flipV="1">
            <a:off x="3927531" y="4417700"/>
            <a:ext cx="1086613" cy="60682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670801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13.</a:t>
            </a:r>
            <a:r>
              <a:rPr lang="ko-KR" altLang="en-US"/>
              <a:t> 실습</a:t>
            </a:r>
            <a:r>
              <a:rPr lang="en-US" altLang="ko-KR"/>
              <a:t>1</a:t>
            </a:r>
            <a:r>
              <a:rPr lang="ko-KR" altLang="en-US"/>
              <a:t>번 </a:t>
            </a:r>
            <a:r>
              <a:rPr lang="en-US" altLang="ko-KR"/>
              <a:t>2</a:t>
            </a:r>
            <a:endParaRPr lang="en-US" altLang="ko-KR"/>
          </a:p>
        </p:txBody>
      </p:sp>
      <p:grpSp>
        <p:nvGrpSpPr>
          <p:cNvPr id="13" name=""/>
          <p:cNvGrpSpPr/>
          <p:nvPr/>
        </p:nvGrpSpPr>
        <p:grpSpPr>
          <a:xfrm rot="0">
            <a:off x="4140949" y="428283"/>
            <a:ext cx="6153416" cy="4172633"/>
            <a:chOff x="864348" y="1380784"/>
            <a:chExt cx="7220958" cy="4896533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864348" y="1380784"/>
              <a:ext cx="7220958" cy="4896533"/>
            </a:xfrm>
            <a:prstGeom prst="rect">
              <a:avLst/>
            </a:prstGeom>
          </p:spPr>
        </p:pic>
        <p:sp>
          <p:nvSpPr>
            <p:cNvPr id="10" name="직사각형 9"/>
            <p:cNvSpPr/>
            <p:nvPr/>
          </p:nvSpPr>
          <p:spPr>
            <a:xfrm>
              <a:off x="3613968" y="5705114"/>
              <a:ext cx="1556184" cy="33029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718743" y="5308144"/>
              <a:ext cx="1556184" cy="33029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</p:grpSp>
      <p:grpSp>
        <p:nvGrpSpPr>
          <p:cNvPr id="16" name=""/>
          <p:cNvGrpSpPr/>
          <p:nvPr/>
        </p:nvGrpSpPr>
        <p:grpSpPr>
          <a:xfrm rot="0">
            <a:off x="1104514" y="2219325"/>
            <a:ext cx="2238502" cy="2014652"/>
            <a:chOff x="379660" y="4065156"/>
            <a:chExt cx="2238502" cy="2014652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379660" y="4065156"/>
              <a:ext cx="2238502" cy="2014651"/>
            </a:xfrm>
            <a:prstGeom prst="rect">
              <a:avLst/>
            </a:prstGeom>
          </p:spPr>
        </p:pic>
        <p:sp>
          <p:nvSpPr>
            <p:cNvPr id="15" name="가로 글상자 14"/>
            <p:cNvSpPr txBox="1"/>
            <p:nvPr/>
          </p:nvSpPr>
          <p:spPr>
            <a:xfrm>
              <a:off x="902646" y="5179162"/>
              <a:ext cx="1192531" cy="3672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b="1"/>
                <a:t>실습 폴더</a:t>
              </a:r>
              <a:endParaRPr lang="ko-KR" altLang="en-US" b="1"/>
            </a:p>
          </p:txBody>
        </p:sp>
      </p:grpSp>
      <p:sp>
        <p:nvSpPr>
          <p:cNvPr id="17" name="모서리가 둥근 직사각형 16"/>
          <p:cNvSpPr/>
          <p:nvPr/>
        </p:nvSpPr>
        <p:spPr>
          <a:xfrm>
            <a:off x="1028507" y="1304924"/>
            <a:ext cx="2390517" cy="71437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폴더 연결하기</a:t>
            </a:r>
            <a:endParaRPr lang="ko-KR" altLang="en-US"/>
          </a:p>
        </p:txBody>
      </p:sp>
      <p:grpSp>
        <p:nvGrpSpPr>
          <p:cNvPr id="18" name="그룹 17"/>
          <p:cNvGrpSpPr/>
          <p:nvPr/>
        </p:nvGrpSpPr>
        <p:grpSpPr>
          <a:xfrm rot="0">
            <a:off x="0" y="5353050"/>
            <a:ext cx="12192000" cy="1028700"/>
            <a:chOff x="0" y="1466850"/>
            <a:chExt cx="12192000" cy="1028700"/>
          </a:xfrm>
        </p:grpSpPr>
        <p:sp>
          <p:nvSpPr>
            <p:cNvPr id="19" name="직사각형 4"/>
            <p:cNvSpPr/>
            <p:nvPr/>
          </p:nvSpPr>
          <p:spPr>
            <a:xfrm>
              <a:off x="0" y="1466850"/>
              <a:ext cx="12192000" cy="1028700"/>
            </a:xfrm>
            <a:prstGeom prst="rect">
              <a:avLst/>
            </a:prstGeom>
            <a:solidFill>
              <a:srgbClr val="f3dddd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0" name="직사각형 2"/>
            <p:cNvSpPr/>
            <p:nvPr/>
          </p:nvSpPr>
          <p:spPr>
            <a:xfrm>
              <a:off x="2556510" y="1680686"/>
              <a:ext cx="7840980" cy="7272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xmlns:mc="http://schemas.openxmlformats.org/markup-compatibility/2006" xmlns:hp="http://schemas.haansoft.com/office/presentation/8.0" sz="2500" b="1" i="0" strike="noStrike" mc:Ignorable="hp" hp:hslEmbossed="0">
                  <a:solidFill>
                    <a:srgbClr val="000000">
                      <a:alpha val="100000"/>
                    </a:srgbClr>
                  </a:solidFill>
                  <a:latin typeface="Arial"/>
                  <a:ea typeface="굴림"/>
                </a:rPr>
                <a:t> </a:t>
              </a:r>
              <a:r>
                <a:rPr xmlns:mc="http://schemas.openxmlformats.org/markup-compatibility/2006" xmlns:hp="http://schemas.haansoft.com/office/presentation/8.0" lang="en-US" altLang="ko-KR" sz="1700" b="1" i="0" strike="noStrike" mc:Ignorable="hp" hp:hslEmbossed="0">
                  <a:solidFill>
                    <a:srgbClr val="000000">
                      <a:alpha val="100000"/>
                    </a:srgbClr>
                  </a:solidFill>
                  <a:latin typeface="Arial"/>
                  <a:ea typeface="굴림"/>
                </a:rPr>
                <a:t>*</a:t>
              </a:r>
              <a:r>
                <a:rPr xmlns:mc="http://schemas.openxmlformats.org/markup-compatibility/2006" xmlns:hp="http://schemas.haansoft.com/office/presentation/8.0" lang="ko-KR" altLang="en-US" sz="1700" b="1" i="0" strike="noStrike" mc:Ignorable="hp" hp:hslEmbossed="0">
                  <a:solidFill>
                    <a:srgbClr val="000000">
                      <a:alpha val="100000"/>
                    </a:srgbClr>
                  </a:solidFill>
                  <a:latin typeface="Arial"/>
                  <a:ea typeface="굴림"/>
                </a:rPr>
                <a:t> 폴더 안에 무슨 파일 있어</a:t>
              </a:r>
              <a:r>
                <a:rPr xmlns:mc="http://schemas.openxmlformats.org/markup-compatibility/2006" xmlns:hp="http://schemas.haansoft.com/office/presentation/8.0" lang="en-US" altLang="ko-KR" sz="1700" b="1" i="0" strike="noStrike" mc:Ignorable="hp" hp:hslEmbossed="0">
                  <a:solidFill>
                    <a:srgbClr val="000000">
                      <a:alpha val="100000"/>
                    </a:srgbClr>
                  </a:solidFill>
                  <a:latin typeface="Arial"/>
                  <a:ea typeface="굴림"/>
                </a:rPr>
                <a:t>?</a:t>
              </a:r>
              <a:br>
                <a:rPr xmlns:mc="http://schemas.openxmlformats.org/markup-compatibility/2006" xmlns:hp="http://schemas.haansoft.com/office/presentation/8.0" lang="ko-KR" altLang="en-US" sz="1700" b="1" i="0" strike="noStrike" mc:Ignorable="hp" hp:hslEmbossed="0">
                  <a:solidFill>
                    <a:srgbClr val="000000">
                      <a:alpha val="100000"/>
                    </a:srgbClr>
                  </a:solidFill>
                  <a:latin typeface="Arial"/>
                  <a:ea typeface="굴림"/>
                </a:rPr>
              </a:br>
              <a:r>
                <a:rPr xmlns:mc="http://schemas.openxmlformats.org/markup-compatibility/2006" xmlns:hp="http://schemas.haansoft.com/office/presentation/8.0" lang="ko-KR" altLang="en-US" sz="1700" b="1" i="0" strike="noStrike" mc:Ignorable="hp" hp:hslEmbossed="0">
                  <a:solidFill>
                    <a:srgbClr val="000000">
                      <a:alpha val="100000"/>
                    </a:srgbClr>
                  </a:solidFill>
                  <a:latin typeface="Arial"/>
                  <a:ea typeface="굴림"/>
                </a:rPr>
                <a:t>  </a:t>
              </a:r>
              <a:r>
                <a:rPr xmlns:mc="http://schemas.openxmlformats.org/markup-compatibility/2006" xmlns:hp="http://schemas.haansoft.com/office/presentation/8.0" lang="en-US" altLang="ko-KR" sz="1700" b="1" i="0" strike="noStrike" mc:Ignorable="hp" hp:hslEmbossed="0">
                  <a:solidFill>
                    <a:srgbClr val="000000">
                      <a:alpha val="100000"/>
                    </a:srgbClr>
                  </a:solidFill>
                  <a:latin typeface="Arial"/>
                  <a:ea typeface="굴림"/>
                </a:rPr>
                <a:t>*</a:t>
              </a:r>
              <a:r>
                <a:rPr xmlns:mc="http://schemas.openxmlformats.org/markup-compatibility/2006" xmlns:hp="http://schemas.haansoft.com/office/presentation/8.0" lang="ko-KR" altLang="en-US" sz="1700" b="1" i="0" strike="noStrike" mc:Ignorable="hp" hp:hslEmbossed="0">
                  <a:solidFill>
                    <a:srgbClr val="000000">
                      <a:alpha val="100000"/>
                    </a:srgbClr>
                  </a:solidFill>
                  <a:latin typeface="Arial"/>
                  <a:ea typeface="굴림"/>
                </a:rPr>
                <a:t> 폴더 경로 확인해</a:t>
              </a:r>
              <a:endParaRPr xmlns:mc="http://schemas.openxmlformats.org/markup-compatibility/2006" xmlns:hp="http://schemas.haansoft.com/office/presentation/8.0" lang="ko-KR" altLang="en-US" sz="17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endParaRPr>
            </a:p>
          </p:txBody>
        </p:sp>
      </p:grpSp>
      <p:sp>
        <p:nvSpPr>
          <p:cNvPr id="21" name="오각형 20"/>
          <p:cNvSpPr/>
          <p:nvPr/>
        </p:nvSpPr>
        <p:spPr>
          <a:xfrm>
            <a:off x="0" y="5353050"/>
            <a:ext cx="2409825" cy="1028700"/>
          </a:xfrm>
          <a:prstGeom prst="homePlate">
            <a:avLst>
              <a:gd name="adj" fmla="val 50000"/>
            </a:avLst>
          </a:prstGeom>
          <a:solidFill>
            <a:srgbClr val="dd9797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en-US" altLang="ko-KR"/>
              <a:t>+)</a:t>
            </a:r>
            <a:r>
              <a:rPr lang="ko-KR" altLang="en-US"/>
              <a:t> 추가 활동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580790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12.</a:t>
            </a:r>
            <a:r>
              <a:rPr lang="ko-KR" altLang="en-US"/>
              <a:t> 실습</a:t>
            </a:r>
            <a:r>
              <a:rPr lang="en-US" altLang="ko-KR"/>
              <a:t>1</a:t>
            </a:r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6000" y="3429000"/>
            <a:ext cx="0" cy="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48400" y="3581400"/>
            <a:ext cx="0" cy="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99690" y="1605119"/>
            <a:ext cx="5058731" cy="479137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096000" y="636189"/>
            <a:ext cx="5515875" cy="576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501112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3.</a:t>
            </a:r>
            <a:r>
              <a:rPr lang="ko-KR" altLang="en-US"/>
              <a:t> 오늘의 일정</a:t>
            </a: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1190220" y="1190898"/>
            <a:ext cx="9811560" cy="4476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1.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강사소개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2.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클러드 코드 이해하기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3.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클러드 데스크탑 설치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4.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실습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1: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바이브 코딩으로 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‘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김비서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’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개발하기 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5.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실습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2: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바이브코딩으로 업무 가속화하기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6.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로컬 서버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?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배포하기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?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서버 이해하기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7.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정리하기</a:t>
            </a:r>
            <a:endParaRPr lang="ko-KR" altLang="en-US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  <a:p>
            <a:pPr lvl="0" algn="ctr">
              <a:defRPr/>
            </a:pP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8.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Q&amp;A / </a:t>
            </a:r>
            <a:r>
              <a:rPr lang="ko-KR" altLang="en-US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자유 실습   </a:t>
            </a:r>
            <a:r>
              <a:rPr lang="en-US" altLang="ko-KR" sz="3600" b="1">
                <a:ln w="12700" cap="flat" cmpd="sng" algn="ctr">
                  <a:solidFill>
                    <a:schemeClr val="accent3">
                      <a:satMod val="105000"/>
                    </a:schemeClr>
                  </a:solidFill>
                  <a:prstDash val="solid"/>
                  <a:round/>
                  <a:headEnd w="med" len="med"/>
                  <a:tailEnd w="med" len="med"/>
                </a:ln>
                <a:solidFill>
                  <a:srgbClr val="0d0d0d"/>
                </a:solidFill>
                <a:effectLst>
                  <a:outerShdw blurRad="38100" dist="25400" dir="5400000" rotWithShape="0">
                    <a:srgbClr val="000000">
                      <a:alpha val="75000"/>
                    </a:srgbClr>
                  </a:outerShdw>
                </a:effectLst>
              </a:rPr>
              <a:t>         </a:t>
            </a:r>
            <a:endParaRPr lang="en-US" altLang="ko-KR" sz="3600" b="1">
              <a:ln w="12700" cap="flat" cmpd="sng" algn="ctr">
                <a:solidFill>
                  <a:schemeClr val="accent3">
                    <a:satMod val="105000"/>
                  </a:schemeClr>
                </a:solidFill>
                <a:prstDash val="solid"/>
                <a:round/>
                <a:headEnd w="med" len="med"/>
                <a:tailEnd w="med" len="med"/>
              </a:ln>
              <a:solidFill>
                <a:srgbClr val="0d0d0d"/>
              </a:solidFill>
              <a:effectLst>
                <a:outerShdw blurRad="38100" dist="25400" dir="5400000" rotWithShape="0">
                  <a:srgbClr val="000000">
                    <a:alpha val="7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95688899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14.</a:t>
            </a:r>
            <a:r>
              <a:rPr lang="ko-KR" altLang="en-US"/>
              <a:t>실습</a:t>
            </a:r>
            <a:r>
              <a:rPr lang="en-US" altLang="ko-KR"/>
              <a:t>1</a:t>
            </a:r>
            <a:r>
              <a:rPr lang="ko-KR" altLang="en-US"/>
              <a:t>번</a:t>
            </a:r>
            <a:r>
              <a:rPr lang="en-US" altLang="ko-KR"/>
              <a:t>3</a:t>
            </a:r>
            <a:endParaRPr lang="en-US" altLang="ko-KR"/>
          </a:p>
        </p:txBody>
      </p:sp>
      <p:sp>
        <p:nvSpPr>
          <p:cNvPr id="9" name="모서리가 둥근 직사각형 8"/>
          <p:cNvSpPr/>
          <p:nvPr/>
        </p:nvSpPr>
        <p:spPr>
          <a:xfrm>
            <a:off x="537650" y="2470393"/>
            <a:ext cx="2390517" cy="714375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/>
              <a:t>클러드인 크롬</a:t>
            </a:r>
            <a:endParaRPr lang="ko-KR" altLang="en-US"/>
          </a:p>
        </p:txBody>
      </p:sp>
      <p:sp>
        <p:nvSpPr>
          <p:cNvPr id="10" name="가로 글상자 9"/>
          <p:cNvSpPr txBox="1"/>
          <p:nvPr/>
        </p:nvSpPr>
        <p:spPr>
          <a:xfrm>
            <a:off x="537392" y="1190625"/>
            <a:ext cx="2390775" cy="118300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en-US"/>
              <a:t>https://chromewebstore.google.com/detail/claude/fcoeoabgfenejglbffodgkkbkcdhcgfn</a:t>
            </a:r>
            <a:endParaRPr lang="en-US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557636" y="378310"/>
            <a:ext cx="7943754" cy="5612914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9727214" y="1674381"/>
            <a:ext cx="1251384" cy="4255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9917714" y="321160"/>
            <a:ext cx="584634" cy="3386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가로 글상자 14"/>
          <p:cNvSpPr txBox="1"/>
          <p:nvPr/>
        </p:nvSpPr>
        <p:spPr>
          <a:xfrm>
            <a:off x="460821" y="3667126"/>
            <a:ext cx="2544176" cy="636269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en-US" altLang="ko-KR"/>
              <a:t>*</a:t>
            </a:r>
            <a:r>
              <a:rPr lang="ko-KR" altLang="en-US"/>
              <a:t> 크롬 브라우저를 직접 조작할 때 사용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875091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44981" y="853624"/>
            <a:ext cx="8073937" cy="5826884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0214576" y="901249"/>
            <a:ext cx="295710" cy="2127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9588885" y="1345697"/>
            <a:ext cx="2430035" cy="53348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15.</a:t>
            </a:r>
            <a:r>
              <a:rPr lang="ko-KR" altLang="en-US"/>
              <a:t>실습</a:t>
            </a:r>
            <a:r>
              <a:rPr lang="en-US" altLang="ko-KR"/>
              <a:t>1</a:t>
            </a:r>
            <a:r>
              <a:rPr lang="ko-KR" altLang="en-US"/>
              <a:t>번</a:t>
            </a:r>
            <a:r>
              <a:rPr lang="en-US" altLang="ko-KR"/>
              <a:t>4</a:t>
            </a:r>
            <a:endParaRPr lang="en-US" altLang="ko-KR"/>
          </a:p>
        </p:txBody>
      </p:sp>
      <p:sp>
        <p:nvSpPr>
          <p:cNvPr id="7" name="직사각형 6"/>
          <p:cNvSpPr/>
          <p:nvPr/>
        </p:nvSpPr>
        <p:spPr>
          <a:xfrm>
            <a:off x="193539" y="1209475"/>
            <a:ext cx="3573780" cy="51151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1. 웹 리서치 자동화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lang="en-US" altLang="ko-KR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이 사이트에서 경쟁사 가격 정보 읽어서 정리해줘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5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2. 반복 웹 작업 자동화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lang="en-US" altLang="ko-KR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이 구글폼에 이 데이터로 입력해줘</a:t>
            </a:r>
            <a:endParaRPr xmlns:mc="http://schemas.openxmlformats.org/markup-compatibility/2006" xmlns:hp="http://schemas.haansoft.com/office/presentation/8.0" lang="ko-KR" altLang="en-US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lang="en-US" altLang="ko-KR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이 사이트에서 매번 같은 메뉴 클릭해서 다운로드해줘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5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3. 내 서비스 점검</a:t>
            </a:r>
            <a:endParaRPr xmlns:mc="http://schemas.openxmlformats.org/markup-compatibility/2006" xmlns:hp="http://schemas.haansoft.com/office/presentation/8.0" sz="15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lang="en-US" altLang="ko-KR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사이트 열어서 모바일 화면으로 스크린샷 찍어줘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lang="en-US" altLang="ko-KR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모든 링크 클릭해서 깨진 거 없는지 확인해줘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5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4. 웹페이지 캡처 → 보고서</a:t>
            </a:r>
            <a:endParaRPr xmlns:mc="http://schemas.openxmlformats.org/markup-compatibility/2006" xmlns:hp="http://schemas.haansoft.com/office/presentation/8.0" sz="15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lang="en-US" altLang="ko-KR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이 페이지 스크린샷 찍어서 회의 자료에 넣어줘</a:t>
            </a:r>
            <a:endParaRPr xmlns:mc="http://schemas.openxmlformats.org/markup-compatibility/2006" xmlns:hp="http://schemas.haansoft.com/office/presentation/8.0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5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5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5. GIF 녹화</a:t>
            </a:r>
            <a:endParaRPr xmlns:mc="http://schemas.openxmlformats.org/markup-compatibility/2006" xmlns:hp="http://schemas.haansoft.com/office/presentation/8.0" sz="1500" b="1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lang="en-US" altLang="ko-KR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내가 하는 작업 과정을 GIF로 만들어줘</a:t>
            </a:r>
            <a:r>
              <a:rPr xmlns:mc="http://schemas.openxmlformats.org/markup-compatibility/2006" xmlns:hp="http://schemas.haansoft.com/office/presentation/8.0" lang="en-US" altLang="ko-KR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(</a:t>
            </a: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사용법 안내</a:t>
            </a:r>
            <a:r>
              <a:rPr xmlns:mc="http://schemas.openxmlformats.org/markup-compatibility/2006" xmlns:hp="http://schemas.haansoft.com/office/presentation/8.0" lang="en-US" altLang="ko-KR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,</a:t>
            </a:r>
            <a:r>
              <a:rPr xmlns:mc="http://schemas.openxmlformats.org/markup-compatibility/2006" xmlns:hp="http://schemas.haansoft.com/office/presentation/8.0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 튜토리얼 만들 때</a:t>
            </a:r>
            <a:r>
              <a:rPr xmlns:mc="http://schemas.openxmlformats.org/markup-compatibility/2006" xmlns:hp="http://schemas.haansoft.com/office/presentation/8.0" lang="en-US" altLang="ko-KR" sz="15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)</a:t>
            </a:r>
            <a:endParaRPr xmlns:mc="http://schemas.openxmlformats.org/markup-compatibility/2006" xmlns:hp="http://schemas.haansoft.com/office/presentation/8.0" lang="en-US" altLang="ko-KR" sz="15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499485" y="320319"/>
            <a:ext cx="5688330" cy="367665"/>
          </a:xfrm>
          <a:prstGeom prst="rect">
            <a:avLst/>
          </a:prstGeom>
          <a:solidFill>
            <a:srgbClr val="e9b9b9"/>
          </a:solidFill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브라우저에서 사람이 하는 반복 작업을 대신 시키는 것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2423491818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2.</a:t>
            </a:r>
            <a:r>
              <a:rPr lang="ko-KR" altLang="en-US"/>
              <a:t> 강사 소개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80522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2.</a:t>
            </a:r>
            <a:r>
              <a:rPr lang="ko-KR" altLang="en-US"/>
              <a:t> 강사 소개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426941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2.</a:t>
            </a:r>
            <a:r>
              <a:rPr lang="ko-KR" altLang="en-US"/>
              <a:t> 강사 소개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455401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2.</a:t>
            </a:r>
            <a:r>
              <a:rPr lang="ko-KR" altLang="en-US"/>
              <a:t> 강사 소개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5823169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2.</a:t>
            </a:r>
            <a:r>
              <a:rPr lang="ko-KR" altLang="en-US"/>
              <a:t> 강사 소개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238797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2.</a:t>
            </a:r>
            <a:r>
              <a:rPr lang="ko-KR" altLang="en-US"/>
              <a:t> 강사 소개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663145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2.</a:t>
            </a:r>
            <a:r>
              <a:rPr lang="ko-KR" altLang="en-US"/>
              <a:t> 강사 소개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0831690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2.</a:t>
            </a:r>
            <a:r>
              <a:rPr lang="ko-KR" altLang="en-US"/>
              <a:t> 강사 소개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886353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2.</a:t>
            </a:r>
            <a:r>
              <a:rPr lang="ko-KR" altLang="en-US"/>
              <a:t> 강사 소개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915804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67409"/>
            <a:ext cx="1732780" cy="673484"/>
          </a:xfrm>
          <a:prstGeom prst="rect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2.</a:t>
            </a:r>
            <a:r>
              <a:rPr lang="ko-KR" altLang="en-US"/>
              <a:t> 강사 소개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570398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316</ep:Words>
  <ep:PresentationFormat>화면 슬라이드 쇼(4:3)</ep:PresentationFormat>
  <ep:Paragraphs>111</ep:Paragraphs>
  <ep:Slides>27</ep:Slides>
  <ep:Notes>10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ep:HeadingPairs>
  <ep:TitlesOfParts>
    <vt:vector size="28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2026-04-02T11:13:47.981</dcterms:created>
  <dc:creator>HelloVR</dc:creator>
  <cp:lastModifiedBy>HelloVR</cp:lastModifiedBy>
  <dcterms:modified xsi:type="dcterms:W3CDTF">2026-04-04T08:11:44.290</dcterms:modified>
  <cp:revision>36</cp:revision>
  <cp:version>12.0.0.3146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